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faSlabOne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5c136f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5c136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cd1c7fd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cd1c7fd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cd1c7f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cd1c7f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an example of a file directory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cd1c7fd1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cd1c7fd1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where the file directory starts, below is everything it contains, an what those directories contain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cd1c7fd1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cd1c7fd1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temphomes subdirectories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cd1c7fd1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cd1c7fd1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file contained in temp home - NOT a subdirectory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cd1c7fd1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cd1c7fd1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see cats - cats here is myCats parent directory (parent directories are the immediate higher directory) tempHome would not be considered mycats parent directory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cd1c7fd1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cd1c7fd1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get to myDogs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cd1c7fd1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cd1c7fd1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to yellowCats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a41e0f1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ea41e0f1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a41e0f1c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a41e0f1c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get to myDogs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a41e0f1c6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ea41e0f1c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get to myDogs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ea41e0f1c6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ea41e0f1c6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get to myDogs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a41e0f1c6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ea41e0f1c6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get to myDogs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cd1c7fd1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cd1c7fd1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cd1c7fd1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cd1c7fd1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UNIX - What is it?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444444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UNIX is an operating system</a:t>
            </a:r>
            <a:endParaRPr>
              <a:solidFill>
                <a:srgbClr val="444444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444444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First developed in the 1960s, constant development ever since</a:t>
            </a:r>
            <a:endParaRPr>
              <a:solidFill>
                <a:srgbClr val="444444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444444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Operating system is a suite of programs that make computer work</a:t>
            </a:r>
            <a:endParaRPr>
              <a:solidFill>
                <a:srgbClr val="444444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Verdana"/>
              <a:buChar char="○"/>
            </a:pPr>
            <a:r>
              <a:rPr lang="en" sz="1800">
                <a:solidFill>
                  <a:srgbClr val="444444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Communicates with hardware on behalf of users and programs</a:t>
            </a:r>
            <a:endParaRPr sz="1800">
              <a:solidFill>
                <a:srgbClr val="444444"/>
              </a:solidFill>
              <a:highlight>
                <a:schemeClr val="lt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444444"/>
                </a:solidFill>
                <a:highlight>
                  <a:schemeClr val="lt1"/>
                </a:highlight>
                <a:latin typeface="Verdana"/>
                <a:ea typeface="Verdana"/>
                <a:cs typeface="Verdana"/>
                <a:sym typeface="Verdana"/>
              </a:rPr>
              <a:t>Department machines use Linux, a version of UNIX</a:t>
            </a:r>
            <a:endParaRPr sz="1800">
              <a:solidFill>
                <a:srgbClr val="444444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System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files are organized in a directory structure - the file-system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Directories are like folders - they contain many files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Arranged in a </a:t>
            </a:r>
            <a:r>
              <a:rPr lang="en"/>
              <a:t>hierarchical</a:t>
            </a:r>
            <a:r>
              <a:rPr lang="en"/>
              <a:t> structure, like an inverted tree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 of the hierarchy is the </a:t>
            </a:r>
            <a:r>
              <a:rPr b="1" lang="en"/>
              <a:t>root</a:t>
            </a:r>
            <a:r>
              <a:rPr lang="en"/>
              <a:t> (written as a slash </a:t>
            </a:r>
            <a:r>
              <a:rPr b="1" lang="en"/>
              <a:t>/</a:t>
            </a:r>
            <a:r>
              <a:rPr lang="en"/>
              <a:t>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..</a:t>
            </a:r>
            <a:r>
              <a:rPr lang="en"/>
              <a:t> refers to the directory above another directory (aka the parent directory)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the root has no parent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directory inside another directory is called a subdirectory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cxnSp>
        <p:nvCxnSpPr>
          <p:cNvPr id="74" name="Google Shape;74;p16"/>
          <p:cNvCxnSpPr>
            <a:stCxn id="75" idx="2"/>
            <a:endCxn id="76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7" name="Google Shape;77;p16"/>
          <p:cNvCxnSpPr>
            <a:stCxn id="78" idx="0"/>
            <a:endCxn id="75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9" name="Google Shape;79;p16"/>
          <p:cNvCxnSpPr>
            <a:stCxn id="78" idx="2"/>
            <a:endCxn id="80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1" name="Google Shape;81;p16"/>
          <p:cNvCxnSpPr>
            <a:stCxn id="82" idx="0"/>
            <a:endCxn id="78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3" name="Google Shape;83;p16"/>
          <p:cNvCxnSpPr>
            <a:stCxn id="76" idx="2"/>
            <a:endCxn id="84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5" name="Google Shape;85;p16"/>
          <p:cNvCxnSpPr>
            <a:stCxn id="86" idx="0"/>
            <a:endCxn id="76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7" name="Google Shape;87;p16"/>
          <p:cNvCxnSpPr>
            <a:stCxn id="88" idx="0"/>
            <a:endCxn id="82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6"/>
          <p:cNvCxnSpPr>
            <a:stCxn id="90" idx="0"/>
            <a:endCxn id="82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" name="Google Shape;91;p16"/>
          <p:cNvCxnSpPr>
            <a:stCxn id="92" idx="0"/>
            <a:endCxn id="86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3" name="Google Shape;93;p16"/>
          <p:cNvCxnSpPr>
            <a:stCxn id="94" idx="0"/>
            <a:endCxn id="86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" name="Google Shape;95;p16"/>
          <p:cNvCxnSpPr>
            <a:stCxn id="96" idx="0"/>
            <a:endCxn id="86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5" name="Google Shape;75;p16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97;p16"/>
          <p:cNvCxnSpPr>
            <a:stCxn id="75" idx="2"/>
            <a:endCxn id="98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" name="Google Shape;98;p16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Directory</a:t>
            </a:r>
            <a:endParaRPr/>
          </a:p>
        </p:txBody>
      </p:sp>
      <p:cxnSp>
        <p:nvCxnSpPr>
          <p:cNvPr id="104" name="Google Shape;104;p17"/>
          <p:cNvCxnSpPr>
            <a:stCxn id="105" idx="2"/>
            <a:endCxn id="106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7" name="Google Shape;107;p17"/>
          <p:cNvCxnSpPr>
            <a:stCxn id="108" idx="0"/>
            <a:endCxn id="105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9" name="Google Shape;109;p17"/>
          <p:cNvCxnSpPr>
            <a:stCxn id="108" idx="2"/>
            <a:endCxn id="110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1" name="Google Shape;111;p17"/>
          <p:cNvCxnSpPr>
            <a:stCxn id="112" idx="0"/>
            <a:endCxn id="108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3" name="Google Shape;113;p17"/>
          <p:cNvCxnSpPr>
            <a:stCxn id="106" idx="2"/>
            <a:endCxn id="114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>
            <a:stCxn id="116" idx="0"/>
            <a:endCxn id="106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7" name="Google Shape;117;p17"/>
          <p:cNvCxnSpPr>
            <a:stCxn id="118" idx="0"/>
            <a:endCxn id="112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19" name="Google Shape;119;p17"/>
          <p:cNvCxnSpPr>
            <a:stCxn id="120" idx="0"/>
            <a:endCxn id="112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1" name="Google Shape;121;p17"/>
          <p:cNvCxnSpPr>
            <a:stCxn id="122" idx="0"/>
            <a:endCxn id="116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3" name="Google Shape;123;p17"/>
          <p:cNvCxnSpPr>
            <a:stCxn id="124" idx="0"/>
            <a:endCxn id="116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25" name="Google Shape;125;p17"/>
          <p:cNvCxnSpPr>
            <a:stCxn id="126" idx="0"/>
            <a:endCxn id="116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5" name="Google Shape;105;p17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" name="Google Shape;127;p17"/>
          <p:cNvCxnSpPr>
            <a:stCxn id="105" idx="2"/>
            <a:endCxn id="128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8" name="Google Shape;128;p17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602975" y="572350"/>
            <a:ext cx="1943400" cy="8805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</a:t>
            </a:r>
            <a:r>
              <a:rPr lang="en"/>
              <a:t> Directories</a:t>
            </a:r>
            <a:endParaRPr/>
          </a:p>
        </p:txBody>
      </p:sp>
      <p:cxnSp>
        <p:nvCxnSpPr>
          <p:cNvPr id="135" name="Google Shape;135;p18"/>
          <p:cNvCxnSpPr>
            <a:stCxn id="136" idx="2"/>
            <a:endCxn id="137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38" name="Google Shape;138;p18"/>
          <p:cNvCxnSpPr>
            <a:stCxn id="139" idx="0"/>
            <a:endCxn id="136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0" name="Google Shape;140;p18"/>
          <p:cNvCxnSpPr>
            <a:stCxn id="139" idx="2"/>
            <a:endCxn id="141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2" name="Google Shape;142;p18"/>
          <p:cNvCxnSpPr>
            <a:stCxn id="143" idx="0"/>
            <a:endCxn id="139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4" name="Google Shape;144;p18"/>
          <p:cNvCxnSpPr>
            <a:stCxn id="137" idx="2"/>
            <a:endCxn id="145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6" name="Google Shape;146;p18"/>
          <p:cNvCxnSpPr>
            <a:stCxn id="147" idx="0"/>
            <a:endCxn id="137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8" name="Google Shape;148;p18"/>
          <p:cNvCxnSpPr>
            <a:stCxn id="149" idx="0"/>
            <a:endCxn id="143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0" name="Google Shape;150;p18"/>
          <p:cNvCxnSpPr>
            <a:stCxn id="151" idx="0"/>
            <a:endCxn id="143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2" name="Google Shape;152;p18"/>
          <p:cNvCxnSpPr>
            <a:stCxn id="153" idx="0"/>
            <a:endCxn id="147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4" name="Google Shape;154;p18"/>
          <p:cNvCxnSpPr>
            <a:stCxn id="155" idx="0"/>
            <a:endCxn id="147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6" name="Google Shape;156;p18"/>
          <p:cNvCxnSpPr>
            <a:stCxn id="157" idx="0"/>
            <a:endCxn id="147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6" name="Google Shape;136;p18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" name="Google Shape;158;p18"/>
          <p:cNvCxnSpPr>
            <a:stCxn id="136" idx="2"/>
            <a:endCxn id="159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Google Shape;159;p18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883700" y="1561100"/>
            <a:ext cx="1830000" cy="9312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430450" y="1561100"/>
            <a:ext cx="1830000" cy="9312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</a:t>
            </a:r>
            <a:endParaRPr/>
          </a:p>
        </p:txBody>
      </p:sp>
      <p:cxnSp>
        <p:nvCxnSpPr>
          <p:cNvPr id="167" name="Google Shape;167;p19"/>
          <p:cNvCxnSpPr>
            <a:stCxn id="168" idx="2"/>
            <a:endCxn id="169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0" name="Google Shape;170;p19"/>
          <p:cNvCxnSpPr>
            <a:stCxn id="171" idx="0"/>
            <a:endCxn id="168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2" name="Google Shape;172;p19"/>
          <p:cNvCxnSpPr>
            <a:stCxn id="171" idx="2"/>
            <a:endCxn id="173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4" name="Google Shape;174;p19"/>
          <p:cNvCxnSpPr>
            <a:stCxn id="175" idx="0"/>
            <a:endCxn id="171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6" name="Google Shape;176;p19"/>
          <p:cNvCxnSpPr>
            <a:stCxn id="169" idx="2"/>
            <a:endCxn id="177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78" name="Google Shape;178;p19"/>
          <p:cNvCxnSpPr>
            <a:stCxn id="179" idx="0"/>
            <a:endCxn id="169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0" name="Google Shape;180;p19"/>
          <p:cNvCxnSpPr>
            <a:stCxn id="181" idx="0"/>
            <a:endCxn id="175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2" name="Google Shape;182;p19"/>
          <p:cNvCxnSpPr>
            <a:stCxn id="183" idx="0"/>
            <a:endCxn id="175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4" name="Google Shape;184;p19"/>
          <p:cNvCxnSpPr>
            <a:stCxn id="185" idx="0"/>
            <a:endCxn id="179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6" name="Google Shape;186;p19"/>
          <p:cNvCxnSpPr>
            <a:stCxn id="187" idx="0"/>
            <a:endCxn id="179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" name="Google Shape;188;p19"/>
          <p:cNvCxnSpPr>
            <a:stCxn id="189" idx="0"/>
            <a:endCxn id="179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8" name="Google Shape;168;p19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" name="Google Shape;190;p19"/>
          <p:cNvCxnSpPr>
            <a:stCxn id="168" idx="2"/>
            <a:endCxn id="191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1" name="Google Shape;191;p19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647900" y="1640638"/>
            <a:ext cx="1848300" cy="8388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Directory</a:t>
            </a:r>
            <a:endParaRPr/>
          </a:p>
        </p:txBody>
      </p:sp>
      <p:cxnSp>
        <p:nvCxnSpPr>
          <p:cNvPr id="198" name="Google Shape;198;p20"/>
          <p:cNvCxnSpPr>
            <a:stCxn id="199" idx="2"/>
            <a:endCxn id="200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1" name="Google Shape;201;p20"/>
          <p:cNvCxnSpPr>
            <a:stCxn id="202" idx="0"/>
            <a:endCxn id="199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3" name="Google Shape;203;p20"/>
          <p:cNvCxnSpPr>
            <a:stCxn id="202" idx="2"/>
            <a:endCxn id="204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5" name="Google Shape;205;p20"/>
          <p:cNvCxnSpPr>
            <a:stCxn id="206" idx="0"/>
            <a:endCxn id="202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7" name="Google Shape;207;p20"/>
          <p:cNvCxnSpPr>
            <a:stCxn id="200" idx="2"/>
            <a:endCxn id="208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09" name="Google Shape;209;p20"/>
          <p:cNvCxnSpPr>
            <a:stCxn id="210" idx="0"/>
            <a:endCxn id="200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1" name="Google Shape;211;p20"/>
          <p:cNvCxnSpPr>
            <a:stCxn id="212" idx="0"/>
            <a:endCxn id="206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3" name="Google Shape;213;p20"/>
          <p:cNvCxnSpPr>
            <a:stCxn id="214" idx="0"/>
            <a:endCxn id="206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5" name="Google Shape;215;p20"/>
          <p:cNvCxnSpPr>
            <a:stCxn id="216" idx="0"/>
            <a:endCxn id="210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7" name="Google Shape;217;p20"/>
          <p:cNvCxnSpPr>
            <a:stCxn id="218" idx="0"/>
            <a:endCxn id="210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9" name="Google Shape;219;p20"/>
          <p:cNvCxnSpPr>
            <a:stCxn id="220" idx="0"/>
            <a:endCxn id="210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" name="Google Shape;199;p20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0"/>
          <p:cNvCxnSpPr>
            <a:stCxn id="199" idx="2"/>
            <a:endCxn id="222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2" name="Google Shape;222;p20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872425" y="1561100"/>
            <a:ext cx="1831500" cy="9312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/TempHome/dogs/myDogs</a:t>
            </a:r>
            <a:r>
              <a:rPr lang="en"/>
              <a:t>	</a:t>
            </a:r>
            <a:endParaRPr/>
          </a:p>
        </p:txBody>
      </p:sp>
      <p:cxnSp>
        <p:nvCxnSpPr>
          <p:cNvPr id="229" name="Google Shape;229;p21"/>
          <p:cNvCxnSpPr>
            <a:stCxn id="230" idx="2"/>
            <a:endCxn id="231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2" name="Google Shape;232;p21"/>
          <p:cNvCxnSpPr>
            <a:stCxn id="233" idx="0"/>
            <a:endCxn id="230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4" name="Google Shape;234;p21"/>
          <p:cNvCxnSpPr>
            <a:stCxn id="233" idx="2"/>
            <a:endCxn id="235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6" name="Google Shape;236;p21"/>
          <p:cNvCxnSpPr>
            <a:stCxn id="237" idx="0"/>
            <a:endCxn id="233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38" name="Google Shape;238;p21"/>
          <p:cNvCxnSpPr>
            <a:stCxn id="231" idx="2"/>
            <a:endCxn id="239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0" name="Google Shape;240;p21"/>
          <p:cNvCxnSpPr>
            <a:stCxn id="241" idx="0"/>
            <a:endCxn id="231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2" name="Google Shape;242;p21"/>
          <p:cNvCxnSpPr>
            <a:stCxn id="243" idx="0"/>
            <a:endCxn id="237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4" name="Google Shape;244;p21"/>
          <p:cNvCxnSpPr>
            <a:stCxn id="245" idx="0"/>
            <a:endCxn id="237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6" name="Google Shape;246;p21"/>
          <p:cNvCxnSpPr>
            <a:stCxn id="247" idx="0"/>
            <a:endCxn id="241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8" name="Google Shape;248;p21"/>
          <p:cNvCxnSpPr>
            <a:stCxn id="249" idx="0"/>
            <a:endCxn id="241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50" name="Google Shape;250;p21"/>
          <p:cNvCxnSpPr>
            <a:stCxn id="251" idx="0"/>
            <a:endCxn id="241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0" name="Google Shape;230;p21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2" name="Google Shape;252;p21"/>
          <p:cNvCxnSpPr>
            <a:stCxn id="230" idx="2"/>
            <a:endCxn id="253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3" name="Google Shape;253;p21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611900" y="2576950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Paths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/TempHome/cats/myCats/yellowCats.jpg</a:t>
            </a:r>
            <a:r>
              <a:rPr lang="en"/>
              <a:t>	</a:t>
            </a:r>
            <a:endParaRPr/>
          </a:p>
        </p:txBody>
      </p:sp>
      <p:cxnSp>
        <p:nvCxnSpPr>
          <p:cNvPr id="260" name="Google Shape;260;p22"/>
          <p:cNvCxnSpPr>
            <a:stCxn id="261" idx="2"/>
            <a:endCxn id="262" idx="0"/>
          </p:cNvCxnSpPr>
          <p:nvPr/>
        </p:nvCxnSpPr>
        <p:spPr>
          <a:xfrm flipH="1" rot="-5400000">
            <a:off x="5044200" y="545525"/>
            <a:ext cx="825900" cy="1770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3" name="Google Shape;263;p22"/>
          <p:cNvCxnSpPr>
            <a:stCxn id="264" idx="0"/>
            <a:endCxn id="261" idx="2"/>
          </p:cNvCxnSpPr>
          <p:nvPr/>
        </p:nvCxnSpPr>
        <p:spPr>
          <a:xfrm rot="-5400000">
            <a:off x="3273900" y="545450"/>
            <a:ext cx="825900" cy="1770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5" name="Google Shape;265;p22"/>
          <p:cNvCxnSpPr>
            <a:stCxn id="264" idx="2"/>
            <a:endCxn id="266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7" name="Google Shape;267;p22"/>
          <p:cNvCxnSpPr>
            <a:stCxn id="268" idx="0"/>
            <a:endCxn id="264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9" name="Google Shape;269;p22"/>
          <p:cNvCxnSpPr>
            <a:stCxn id="262" idx="2"/>
            <a:endCxn id="270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1" name="Google Shape;271;p22"/>
          <p:cNvCxnSpPr>
            <a:stCxn id="272" idx="0"/>
            <a:endCxn id="262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3" name="Google Shape;273;p22"/>
          <p:cNvCxnSpPr>
            <a:stCxn id="274" idx="0"/>
            <a:endCxn id="268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5" name="Google Shape;275;p22"/>
          <p:cNvCxnSpPr>
            <a:stCxn id="276" idx="0"/>
            <a:endCxn id="268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7" name="Google Shape;277;p22"/>
          <p:cNvCxnSpPr>
            <a:stCxn id="278" idx="0"/>
            <a:endCxn id="272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79" name="Google Shape;279;p22"/>
          <p:cNvCxnSpPr>
            <a:stCxn id="280" idx="0"/>
            <a:endCxn id="272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1" name="Google Shape;281;p22"/>
          <p:cNvCxnSpPr>
            <a:stCxn id="282" idx="0"/>
            <a:endCxn id="272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1" name="Google Shape;261;p22"/>
          <p:cNvSpPr txBox="1"/>
          <p:nvPr/>
        </p:nvSpPr>
        <p:spPr>
          <a:xfrm>
            <a:off x="3801750" y="651425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" name="Google Shape;283;p22"/>
          <p:cNvCxnSpPr>
            <a:stCxn id="261" idx="2"/>
            <a:endCxn id="284" idx="0"/>
          </p:cNvCxnSpPr>
          <p:nvPr/>
        </p:nvCxnSpPr>
        <p:spPr>
          <a:xfrm flipH="1" rot="-5400000">
            <a:off x="4149900" y="1439825"/>
            <a:ext cx="844800" cy="6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4" name="Google Shape;284;p22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289250" y="3665300"/>
            <a:ext cx="1798200" cy="9312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Terminal</a:t>
            </a:r>
            <a:endParaRPr/>
          </a:p>
        </p:txBody>
      </p:sp>
      <p:sp>
        <p:nvSpPr>
          <p:cNvPr id="291" name="Google Shape;29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 on UNIX </a:t>
            </a:r>
            <a:r>
              <a:rPr lang="en"/>
              <a:t>machines</a:t>
            </a:r>
            <a:r>
              <a:rPr lang="en"/>
              <a:t> which allows user to navigate the filesystem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execute various commands to find, read, write, or execute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</a:t>
            </a:r>
            <a:r>
              <a:rPr b="1" lang="en"/>
              <a:t>wd</a:t>
            </a:r>
            <a:r>
              <a:rPr lang="en"/>
              <a:t> - prints the working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</a:t>
            </a:r>
            <a:r>
              <a:rPr b="1" lang="en"/>
              <a:t>s</a:t>
            </a:r>
            <a:r>
              <a:rPr lang="en"/>
              <a:t> - lists contents of current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</a:t>
            </a:r>
            <a:r>
              <a:rPr b="1" lang="en"/>
              <a:t>d</a:t>
            </a:r>
            <a:r>
              <a:rPr lang="en"/>
              <a:t> - change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b="1" lang="en"/>
              <a:t>kdir</a:t>
            </a:r>
            <a:r>
              <a:rPr lang="en"/>
              <a:t> - makes a new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</a:t>
            </a:r>
            <a:r>
              <a:rPr b="1" lang="en"/>
              <a:t>ouch</a:t>
            </a:r>
            <a:r>
              <a:rPr lang="en"/>
              <a:t> - creates a file (includes extension)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r>
              <a:rPr lang="en"/>
              <a:t>	</a:t>
            </a:r>
            <a:endParaRPr/>
          </a:p>
        </p:txBody>
      </p:sp>
      <p:cxnSp>
        <p:nvCxnSpPr>
          <p:cNvPr id="297" name="Google Shape;297;p24"/>
          <p:cNvCxnSpPr>
            <a:stCxn id="298" idx="2"/>
            <a:endCxn id="299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0" name="Google Shape;300;p24"/>
          <p:cNvCxnSpPr>
            <a:stCxn id="301" idx="0"/>
            <a:endCxn id="298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2" name="Google Shape;302;p24"/>
          <p:cNvCxnSpPr>
            <a:stCxn id="301" idx="2"/>
            <a:endCxn id="303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4" name="Google Shape;304;p24"/>
          <p:cNvCxnSpPr>
            <a:stCxn id="305" idx="0"/>
            <a:endCxn id="301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6" name="Google Shape;306;p24"/>
          <p:cNvCxnSpPr>
            <a:stCxn id="299" idx="2"/>
            <a:endCxn id="307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08" name="Google Shape;308;p24"/>
          <p:cNvCxnSpPr>
            <a:stCxn id="309" idx="0"/>
            <a:endCxn id="299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0" name="Google Shape;310;p24"/>
          <p:cNvCxnSpPr>
            <a:stCxn id="311" idx="0"/>
            <a:endCxn id="305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2" name="Google Shape;312;p24"/>
          <p:cNvCxnSpPr>
            <a:stCxn id="313" idx="0"/>
            <a:endCxn id="305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4" name="Google Shape;314;p24"/>
          <p:cNvCxnSpPr>
            <a:stCxn id="315" idx="0"/>
            <a:endCxn id="309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6" name="Google Shape;316;p24"/>
          <p:cNvCxnSpPr>
            <a:stCxn id="317" idx="0"/>
            <a:endCxn id="309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18" name="Google Shape;318;p24"/>
          <p:cNvCxnSpPr>
            <a:stCxn id="319" idx="0"/>
            <a:endCxn id="309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8" name="Google Shape;298;p24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0" name="Google Shape;320;p24"/>
          <p:cNvCxnSpPr>
            <a:stCxn id="298" idx="2"/>
            <a:endCxn id="321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24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457150" y="15153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24"/>
          <p:cNvCxnSpPr>
            <a:stCxn id="322" idx="7"/>
          </p:cNvCxnSpPr>
          <p:nvPr/>
        </p:nvCxnSpPr>
        <p:spPr>
          <a:xfrm flipH="1" rot="10800000">
            <a:off x="6968196" y="913608"/>
            <a:ext cx="104100" cy="7515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24"/>
          <p:cNvSpPr txBox="1"/>
          <p:nvPr/>
        </p:nvSpPr>
        <p:spPr>
          <a:xfrm>
            <a:off x="7034225" y="1230525"/>
            <a:ext cx="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pwd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6265175" y="531275"/>
            <a:ext cx="166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/TempHome/dogs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	</a:t>
            </a:r>
            <a:endParaRPr/>
          </a:p>
        </p:txBody>
      </p:sp>
      <p:cxnSp>
        <p:nvCxnSpPr>
          <p:cNvPr id="331" name="Google Shape;331;p25"/>
          <p:cNvCxnSpPr>
            <a:stCxn id="332" idx="2"/>
            <a:endCxn id="333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4" name="Google Shape;334;p25"/>
          <p:cNvCxnSpPr>
            <a:stCxn id="335" idx="0"/>
            <a:endCxn id="332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6" name="Google Shape;336;p25"/>
          <p:cNvCxnSpPr>
            <a:stCxn id="335" idx="2"/>
            <a:endCxn id="337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8" name="Google Shape;338;p25"/>
          <p:cNvCxnSpPr>
            <a:stCxn id="339" idx="0"/>
            <a:endCxn id="335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0" name="Google Shape;340;p25"/>
          <p:cNvCxnSpPr>
            <a:stCxn id="333" idx="2"/>
            <a:endCxn id="341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>
            <a:stCxn id="343" idx="0"/>
            <a:endCxn id="333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4" name="Google Shape;344;p25"/>
          <p:cNvCxnSpPr>
            <a:stCxn id="345" idx="0"/>
            <a:endCxn id="339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6" name="Google Shape;346;p25"/>
          <p:cNvCxnSpPr>
            <a:stCxn id="347" idx="0"/>
            <a:endCxn id="339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48" name="Google Shape;348;p25"/>
          <p:cNvCxnSpPr>
            <a:stCxn id="349" idx="0"/>
            <a:endCxn id="343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0" name="Google Shape;350;p25"/>
          <p:cNvCxnSpPr>
            <a:stCxn id="351" idx="0"/>
            <a:endCxn id="343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52" name="Google Shape;352;p25"/>
          <p:cNvCxnSpPr>
            <a:stCxn id="353" idx="0"/>
            <a:endCxn id="343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2" name="Google Shape;332;p25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5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5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5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25"/>
          <p:cNvCxnSpPr>
            <a:stCxn id="332" idx="2"/>
            <a:endCxn id="355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5" name="Google Shape;355;p25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5457150" y="15153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25"/>
          <p:cNvCxnSpPr>
            <a:stCxn id="356" idx="6"/>
          </p:cNvCxnSpPr>
          <p:nvPr/>
        </p:nvCxnSpPr>
        <p:spPr>
          <a:xfrm>
            <a:off x="7227450" y="2026688"/>
            <a:ext cx="623100" cy="15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25"/>
          <p:cNvSpPr txBox="1"/>
          <p:nvPr/>
        </p:nvSpPr>
        <p:spPr>
          <a:xfrm>
            <a:off x="7255200" y="1713475"/>
            <a:ext cx="6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ls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7822800" y="1718888"/>
            <a:ext cx="120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myDogs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dogsInfo.csv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	</a:t>
            </a:r>
            <a:endParaRPr/>
          </a:p>
        </p:txBody>
      </p:sp>
      <p:cxnSp>
        <p:nvCxnSpPr>
          <p:cNvPr id="365" name="Google Shape;365;p26"/>
          <p:cNvCxnSpPr>
            <a:stCxn id="366" idx="2"/>
            <a:endCxn id="367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68" name="Google Shape;368;p26"/>
          <p:cNvCxnSpPr>
            <a:stCxn id="369" idx="0"/>
            <a:endCxn id="366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0" name="Google Shape;370;p26"/>
          <p:cNvCxnSpPr>
            <a:stCxn id="369" idx="2"/>
            <a:endCxn id="371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2" name="Google Shape;372;p26"/>
          <p:cNvCxnSpPr>
            <a:stCxn id="373" idx="0"/>
            <a:endCxn id="369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4" name="Google Shape;374;p26"/>
          <p:cNvCxnSpPr>
            <a:stCxn id="367" idx="2"/>
            <a:endCxn id="375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6" name="Google Shape;376;p26"/>
          <p:cNvCxnSpPr>
            <a:stCxn id="377" idx="0"/>
            <a:endCxn id="367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78" name="Google Shape;378;p26"/>
          <p:cNvCxnSpPr>
            <a:stCxn id="379" idx="0"/>
            <a:endCxn id="373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0" name="Google Shape;380;p26"/>
          <p:cNvCxnSpPr>
            <a:stCxn id="381" idx="0"/>
            <a:endCxn id="373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2" name="Google Shape;382;p26"/>
          <p:cNvCxnSpPr>
            <a:stCxn id="383" idx="0"/>
            <a:endCxn id="377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4" name="Google Shape;384;p26"/>
          <p:cNvCxnSpPr>
            <a:stCxn id="385" idx="0"/>
            <a:endCxn id="377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86" name="Google Shape;386;p26"/>
          <p:cNvCxnSpPr>
            <a:stCxn id="387" idx="0"/>
            <a:endCxn id="377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6" name="Google Shape;366;p26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6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26"/>
          <p:cNvCxnSpPr>
            <a:stCxn id="366" idx="2"/>
            <a:endCxn id="389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9" name="Google Shape;389;p26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3689525" y="5012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1071300" y="25674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26"/>
          <p:cNvCxnSpPr>
            <a:stCxn id="390" idx="2"/>
            <a:endCxn id="391" idx="1"/>
          </p:cNvCxnSpPr>
          <p:nvPr/>
        </p:nvCxnSpPr>
        <p:spPr>
          <a:xfrm flipH="1">
            <a:off x="1330625" y="1012588"/>
            <a:ext cx="2358900" cy="1704600"/>
          </a:xfrm>
          <a:prstGeom prst="curvedConnector2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26"/>
          <p:cNvSpPr txBox="1"/>
          <p:nvPr/>
        </p:nvSpPr>
        <p:spPr>
          <a:xfrm>
            <a:off x="2064800" y="1329100"/>
            <a:ext cx="162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cd cats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/myCats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	</a:t>
            </a:r>
            <a:endParaRPr/>
          </a:p>
        </p:txBody>
      </p:sp>
      <p:cxnSp>
        <p:nvCxnSpPr>
          <p:cNvPr id="399" name="Google Shape;399;p27"/>
          <p:cNvCxnSpPr>
            <a:stCxn id="400" idx="2"/>
            <a:endCxn id="401" idx="0"/>
          </p:cNvCxnSpPr>
          <p:nvPr/>
        </p:nvCxnSpPr>
        <p:spPr>
          <a:xfrm flipH="1" rot="-5400000">
            <a:off x="5133300" y="6344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2" name="Google Shape;402;p27"/>
          <p:cNvCxnSpPr>
            <a:stCxn id="403" idx="0"/>
            <a:endCxn id="400" idx="2"/>
          </p:cNvCxnSpPr>
          <p:nvPr/>
        </p:nvCxnSpPr>
        <p:spPr>
          <a:xfrm rot="-5400000">
            <a:off x="3363000" y="63455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4" name="Google Shape;404;p27"/>
          <p:cNvCxnSpPr>
            <a:stCxn id="403" idx="2"/>
            <a:endCxn id="405" idx="0"/>
          </p:cNvCxnSpPr>
          <p:nvPr/>
        </p:nvCxnSpPr>
        <p:spPr>
          <a:xfrm flipH="1" rot="-5400000">
            <a:off x="28815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6" name="Google Shape;406;p27"/>
          <p:cNvCxnSpPr>
            <a:stCxn id="407" idx="0"/>
            <a:endCxn id="403" idx="2"/>
          </p:cNvCxnSpPr>
          <p:nvPr/>
        </p:nvCxnSpPr>
        <p:spPr>
          <a:xfrm rot="-5400000">
            <a:off x="20362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8" name="Google Shape;408;p27"/>
          <p:cNvCxnSpPr>
            <a:stCxn id="401" idx="2"/>
            <a:endCxn id="409" idx="0"/>
          </p:cNvCxnSpPr>
          <p:nvPr/>
        </p:nvCxnSpPr>
        <p:spPr>
          <a:xfrm flipH="1" rot="-5400000">
            <a:off x="642210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0" name="Google Shape;410;p27"/>
          <p:cNvCxnSpPr>
            <a:stCxn id="411" idx="0"/>
            <a:endCxn id="401" idx="2"/>
          </p:cNvCxnSpPr>
          <p:nvPr/>
        </p:nvCxnSpPr>
        <p:spPr>
          <a:xfrm rot="-5400000">
            <a:off x="5576850" y="213005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2" name="Google Shape;412;p27"/>
          <p:cNvCxnSpPr>
            <a:stCxn id="413" idx="0"/>
            <a:endCxn id="407" idx="2"/>
          </p:cNvCxnSpPr>
          <p:nvPr/>
        </p:nvCxnSpPr>
        <p:spPr>
          <a:xfrm rot="-5400000">
            <a:off x="1229438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4" name="Google Shape;414;p27"/>
          <p:cNvCxnSpPr>
            <a:stCxn id="415" idx="0"/>
            <a:endCxn id="407" idx="2"/>
          </p:cNvCxnSpPr>
          <p:nvPr/>
        </p:nvCxnSpPr>
        <p:spPr>
          <a:xfrm flipH="1" rot="5400000">
            <a:off x="2074688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6" name="Google Shape;416;p27"/>
          <p:cNvCxnSpPr>
            <a:stCxn id="417" idx="0"/>
            <a:endCxn id="411" idx="2"/>
          </p:cNvCxnSpPr>
          <p:nvPr/>
        </p:nvCxnSpPr>
        <p:spPr>
          <a:xfrm rot="-5400000">
            <a:off x="4693013" y="3143600"/>
            <a:ext cx="685800" cy="922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8" name="Google Shape;418;p27"/>
          <p:cNvCxnSpPr>
            <a:stCxn id="419" idx="0"/>
            <a:endCxn id="411" idx="2"/>
          </p:cNvCxnSpPr>
          <p:nvPr/>
        </p:nvCxnSpPr>
        <p:spPr>
          <a:xfrm flipH="1" rot="5400000">
            <a:off x="5538263" y="3220850"/>
            <a:ext cx="685800" cy="768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0" name="Google Shape;420;p27"/>
          <p:cNvCxnSpPr>
            <a:stCxn id="421" idx="0"/>
            <a:endCxn id="411" idx="2"/>
          </p:cNvCxnSpPr>
          <p:nvPr/>
        </p:nvCxnSpPr>
        <p:spPr>
          <a:xfrm flipH="1" rot="5400000">
            <a:off x="6383513" y="2375600"/>
            <a:ext cx="685800" cy="245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0" name="Google Shape;400;p27"/>
          <p:cNvSpPr txBox="1"/>
          <p:nvPr/>
        </p:nvSpPr>
        <p:spPr>
          <a:xfrm>
            <a:off x="3801750" y="8294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TempHome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20326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5573250" y="18435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64185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7280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28779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catsInfo.csv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1187400" y="28956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myCats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54961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otherDogs.jpg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3805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chihuahua.txt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21097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brownCats.jpg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419288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yellowCats.jpg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7186613" y="394775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myDog.jpg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27"/>
          <p:cNvCxnSpPr>
            <a:stCxn id="400" idx="2"/>
            <a:endCxn id="423" idx="0"/>
          </p:cNvCxnSpPr>
          <p:nvPr/>
        </p:nvCxnSpPr>
        <p:spPr>
          <a:xfrm flipH="1" rot="-5400000">
            <a:off x="4238850" y="1528900"/>
            <a:ext cx="666900" cy="6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3" name="Google Shape;423;p27"/>
          <p:cNvSpPr txBox="1"/>
          <p:nvPr/>
        </p:nvSpPr>
        <p:spPr>
          <a:xfrm>
            <a:off x="3803025" y="1862538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rPr>
              <a:t>dog.txt</a:t>
            </a:r>
            <a:endParaRPr sz="1000">
              <a:solidFill>
                <a:srgbClr val="A72A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5454625" y="15153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1071300" y="2567438"/>
            <a:ext cx="1770300" cy="10227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27"/>
          <p:cNvCxnSpPr>
            <a:stCxn id="424" idx="3"/>
            <a:endCxn id="425" idx="7"/>
          </p:cNvCxnSpPr>
          <p:nvPr/>
        </p:nvCxnSpPr>
        <p:spPr>
          <a:xfrm rot="5400000">
            <a:off x="3983779" y="986967"/>
            <a:ext cx="328800" cy="3131400"/>
          </a:xfrm>
          <a:prstGeom prst="curvedConnector3">
            <a:avLst>
              <a:gd fmla="val 50022" name="adj1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27" name="Google Shape;427;p27"/>
          <p:cNvSpPr txBox="1"/>
          <p:nvPr/>
        </p:nvSpPr>
        <p:spPr>
          <a:xfrm>
            <a:off x="3758025" y="2495450"/>
            <a:ext cx="162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cd ../../dogs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433" name="Google Shape;433;p28"/>
          <p:cNvSpPr txBox="1"/>
          <p:nvPr>
            <p:ph type="title"/>
          </p:nvPr>
        </p:nvSpPr>
        <p:spPr>
          <a:xfrm>
            <a:off x="464100" y="179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pwd - current directory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 - list 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 - change directory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439" name="Google Shape;439;p29"/>
          <p:cNvSpPr txBox="1"/>
          <p:nvPr>
            <p:ph type="title"/>
          </p:nvPr>
        </p:nvSpPr>
        <p:spPr>
          <a:xfrm>
            <a:off x="464100" y="179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mkdir</a:t>
            </a:r>
            <a:r>
              <a:rPr lang="en"/>
              <a:t> - make directory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touch - create a file (include extension)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